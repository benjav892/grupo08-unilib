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Lato" panose="020F0502020204030204" pitchFamily="34" charset="0"/>
      <p:regular r:id="rId31"/>
      <p:bold r:id="rId32"/>
      <p:italic r:id="rId33"/>
      <p:boldItalic r:id="rId34"/>
    </p:embeddedFon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Black" panose="00000A00000000000000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f4dd0344_1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f1f4dd0344_1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1f4dd0344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1f4dd0344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f4dd0344_1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1f4dd0344_1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1f4dd0344_1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1f4dd0344_1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1f4dd0344_1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1f4dd0344_1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1f4dd0344_1_1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f1f4dd0344_1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f4dd0344_1_1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f1f4dd0344_1_1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1f4dd0344_1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f1f4dd0344_1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1f4dd0344_1_1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f1f4dd0344_1_1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1f4dd0344_1_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f1f4dd0344_1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1f4dd0344_1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f1f4dd0344_1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1f4dd0344_1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f1f4dd0344_1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1f4dd0344_1_1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f1f4dd0344_1_1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1f4dd0344_1_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1f4dd0344_1_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1f4dd0344_1_1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1f4dd0344_1_1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1f4dd0344_1_1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1f4dd0344_1_1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1f4dd0344_1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1f4dd0344_1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1f4dd0344_1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1f4dd0344_1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1f4dd0344_1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1f4dd0344_1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1f4dd0344_1_1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1f4dd0344_1_1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1f4dd0344_1_1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1f4dd0344_1_1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1f4dd0344_1_1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1f4dd0344_1_1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1f4dd0344_1_1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1f4dd0344_1_1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1f4dd0344_1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1f4dd0344_1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1f4dd0344_1_1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1f4dd0344_1_1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1f4dd0344_1_1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1f4dd0344_1_1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7564d97a7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7564d97a7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rgbClr val="1B212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wVq35IBfX6YrWt56EXge5x/Pantallas-para-BooksMGMT?fullscreen=1&amp;t=B8UycpmfXfSrosY7-1&amp;code-node-id=0-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2928150" y="1301488"/>
            <a:ext cx="63753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600" b="1"/>
              <a:t>Ingeniería de Software</a:t>
            </a:r>
            <a:endParaRPr sz="26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00" b="1"/>
              <a:t>Sistema de Gestión de Biblioteca Universitaria: BooksMGTM</a:t>
            </a:r>
            <a:endParaRPr sz="1800" b="1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2989700" y="2571750"/>
            <a:ext cx="5447400" cy="9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Integrantes: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Benjamín Vásquez, Sebastián Toro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Sección: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008D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Sede: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San Bernardo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Carrera: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Analista Programador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Docente: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E. Mallén Gonzalez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>
                <a:latin typeface="Montserrat"/>
                <a:ea typeface="Montserrat"/>
                <a:cs typeface="Montserrat"/>
                <a:sym typeface="Montserrat"/>
              </a:rPr>
              <a:t>Fecha:</a:t>
            </a:r>
            <a:r>
              <a:rPr lang="es" sz="1700">
                <a:latin typeface="Montserrat"/>
                <a:ea typeface="Montserrat"/>
                <a:cs typeface="Montserrat"/>
                <a:sym typeface="Montserrat"/>
              </a:rPr>
              <a:t> 07/07/2026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3" title="logo-duoc_darkthe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575" y="280625"/>
            <a:ext cx="1516451" cy="3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916526" y="1866550"/>
            <a:ext cx="3274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Crisis Operativa Actual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916526" y="2143817"/>
            <a:ext cx="311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NILIB enfrenta pérdidas drásticas de activos bibliográficos y una ineficiencia severa en los flujos diarios: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619675" y="1866562"/>
            <a:ext cx="358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Propósito de BooksMGMT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666000" y="2140775"/>
            <a:ext cx="2889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solución web robusta para centralizar e integrar el ciclo completo de la biblioteca: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126756" y="2799919"/>
            <a:ext cx="288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❌ 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Registros manuales desactualizados.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126756" y="3001734"/>
            <a:ext cx="2889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❌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Imposibilidad de ubicar ejemplares físicos.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090581" y="3387223"/>
            <a:ext cx="2889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❌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Nula visibilidad remota para los alumnos.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4866788" y="2799892"/>
            <a:ext cx="3164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Control total de inventario y estanterías.</a:t>
            </a:r>
            <a:endParaRPr sz="1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4866788" y="3001704"/>
            <a:ext cx="3164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Trazabilidad absoluta de préstamos y stock.</a:t>
            </a:r>
            <a:endParaRPr sz="1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866788" y="3203515"/>
            <a:ext cx="3164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Consulta remota responsiva multicriterio.</a:t>
            </a:r>
            <a:endParaRPr sz="1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090581" y="459138"/>
            <a:ext cx="8288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Contexto 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 </a:t>
            </a: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Problemática de UNILIB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771500" y="1541050"/>
            <a:ext cx="3164700" cy="2332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4528700" y="1541050"/>
            <a:ext cx="3502800" cy="2332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title"/>
          </p:nvPr>
        </p:nvSpPr>
        <p:spPr>
          <a:xfrm>
            <a:off x="942950" y="1234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Ámbito del Sistema</a:t>
            </a:r>
            <a:endParaRPr b="1"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1"/>
          </p:nvPr>
        </p:nvSpPr>
        <p:spPr>
          <a:xfrm>
            <a:off x="1134900" y="648300"/>
            <a:ext cx="6662400" cy="35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s" sz="1000" b="1">
                <a:latin typeface="Montserrat"/>
                <a:ea typeface="Montserrat"/>
                <a:cs typeface="Montserrat"/>
                <a:sym typeface="Montserrat"/>
              </a:rPr>
              <a:t>Nombre del Sistema:</a:t>
            </a: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 BooksMGMT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s" sz="1000" b="1">
                <a:latin typeface="Montserrat"/>
                <a:ea typeface="Montserrat"/>
                <a:cs typeface="Montserrat"/>
                <a:sym typeface="Montserrat"/>
              </a:rPr>
              <a:t>Qué hará: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s" b="1">
                <a:latin typeface="Montserrat"/>
                <a:ea typeface="Montserrat"/>
                <a:cs typeface="Montserrat"/>
                <a:sym typeface="Montserrat"/>
              </a:rPr>
              <a:t>Gestión de Usuarios: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Control y roles perimetrales de acceso.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b="1">
                <a:latin typeface="Montserrat"/>
                <a:ea typeface="Montserrat"/>
                <a:cs typeface="Montserrat"/>
                <a:sym typeface="Montserrat"/>
              </a:rPr>
              <a:t>Gestión de Libros y Materiales: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CRUD de títulos y pasillo/estante exacto.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s" b="1">
                <a:latin typeface="Montserrat"/>
                <a:ea typeface="Montserrat"/>
                <a:cs typeface="Montserrat"/>
                <a:sym typeface="Montserrat"/>
              </a:rPr>
              <a:t>Registro de Préstamos y Devoluciones: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Trazabilidad del circulante activo.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s" b="1">
                <a:latin typeface="Montserrat"/>
                <a:ea typeface="Montserrat"/>
                <a:cs typeface="Montserrat"/>
                <a:sym typeface="Montserrat"/>
              </a:rPr>
              <a:t>Catálogo en Línea: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Búsqueda ágil y visualización remota.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s" b="1">
                <a:latin typeface="Montserrat"/>
                <a:ea typeface="Montserrat"/>
                <a:cs typeface="Montserrat"/>
                <a:sym typeface="Montserrat"/>
              </a:rPr>
              <a:t>Generación de Reportes: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Reportes de demanda para dirección.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s" sz="1000" b="1">
                <a:latin typeface="Montserrat"/>
                <a:ea typeface="Montserrat"/>
                <a:cs typeface="Montserrat"/>
                <a:sym typeface="Montserrat"/>
              </a:rPr>
              <a:t>Qué no hará:</a:t>
            </a:r>
            <a:endParaRPr sz="1000" b="1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Gestión Financiera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Distribución de E-books</a:t>
            </a: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Integración con Sistemas Externos.</a:t>
            </a:r>
            <a:endParaRPr sz="1000">
              <a:highlight>
                <a:srgbClr val="FF00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s" sz="1000" b="1">
                <a:latin typeface="Montserrat"/>
                <a:ea typeface="Montserrat"/>
                <a:cs typeface="Montserrat"/>
                <a:sym typeface="Montserrat"/>
              </a:rPr>
              <a:t>Usuarios Involucrados:</a:t>
            </a:r>
            <a:endParaRPr sz="1000" b="1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Administrador de biblioteca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Bibliotecario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Asistente de bibliotecario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Docente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Estudiante/Investigador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15" title="Captura de pantalla 2026-07-06 1339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900" y="2626475"/>
            <a:ext cx="4400174" cy="22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100" b="1"/>
              <a:t>Metodología, Ciclo de Vida y Estándares</a:t>
            </a:r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body" idx="1"/>
          </p:nvPr>
        </p:nvSpPr>
        <p:spPr>
          <a:xfrm>
            <a:off x="1297425" y="14871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La planificación se sustenta bajo la metodología RUP (Rational Unified Process), garantizando un enfoque iterativo enfocado en mitigar riesgos de arquitectura y cumplir con las normas IEEE 830 e ISO 9000.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971550" y="2935523"/>
            <a:ext cx="72009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527421" y="3212285"/>
            <a:ext cx="18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Fase de Inicio</a:t>
            </a:r>
            <a:endParaRPr sz="1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571425" y="3426598"/>
            <a:ext cx="17601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Establecimiento de alcance de los 5 módulos funcionales, modelado de actores institucionales y matriz de requerimientos (IEEE 830).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2607703" y="3212285"/>
            <a:ext cx="18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Elaboración</a:t>
            </a:r>
            <a:endParaRPr sz="1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2651707" y="3426598"/>
            <a:ext cx="17601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Diseño de la arquitectura modular Spring Boot, modelado relacional MySQL y mitigación de dependencias técnicas.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4687985" y="3212285"/>
            <a:ext cx="18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Construcción</a:t>
            </a:r>
            <a:endParaRPr sz="1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731989" y="3426598"/>
            <a:ext cx="1760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Desarrollo iterativo. Codificación Java/Thymeleaf y persistencia estructurada mediante Repositorios JPA.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768268" y="3212285"/>
            <a:ext cx="184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Transición</a:t>
            </a:r>
            <a:endParaRPr sz="1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6812272" y="3426598"/>
            <a:ext cx="17601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Verificación técnica de calidad (QA), testing bajo Zephyr, remediación de defectos críticos y despliegue del prototipo funcional.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188175" y="2491325"/>
            <a:ext cx="5268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endParaRPr sz="15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3268350" y="2491325"/>
            <a:ext cx="5268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endParaRPr sz="15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5384800" y="2491325"/>
            <a:ext cx="5268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endParaRPr sz="15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428925" y="2491325"/>
            <a:ext cx="5268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</a:t>
            </a:r>
            <a:endParaRPr sz="15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" sz="2300" b="1"/>
              <a:t>Planificación del Proyecto y Carta Gantt</a:t>
            </a:r>
            <a:endParaRPr sz="2300" b="1"/>
          </a:p>
        </p:txBody>
      </p:sp>
      <p:sp>
        <p:nvSpPr>
          <p:cNvPr id="185" name="Google Shape;185;p17"/>
          <p:cNvSpPr txBox="1">
            <a:spLocks noGrp="1"/>
          </p:cNvSpPr>
          <p:nvPr>
            <p:ph type="body" idx="1"/>
          </p:nvPr>
        </p:nvSpPr>
        <p:spPr>
          <a:xfrm>
            <a:off x="1263300" y="11982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s" sz="1100">
                <a:latin typeface="Montserrat"/>
                <a:ea typeface="Montserrat"/>
                <a:cs typeface="Montserrat"/>
                <a:sym typeface="Montserrat"/>
              </a:rPr>
              <a:t>Desarrollo con un periodo total de 15 semanas (22 de marzo a 07 de julio).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s" sz="1100">
                <a:latin typeface="Montserrat"/>
                <a:ea typeface="Montserrat"/>
                <a:cs typeface="Montserrat"/>
                <a:sym typeface="Montserrat"/>
              </a:rPr>
              <a:t>Optimización de la estructura de desglose de trabajo (EDT)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s" sz="1100">
                <a:latin typeface="Montserrat"/>
                <a:ea typeface="Montserrat"/>
                <a:cs typeface="Montserrat"/>
                <a:sym typeface="Montserrat"/>
              </a:rPr>
              <a:t>Transición fluida entre las fases de Inicio, Elaboración, Construcción y Transición de la metodología RUP.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" name="Google Shape;186;p17" title="Captura de pantalla 2026-07-06 1319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11" y="2373400"/>
            <a:ext cx="8175777" cy="25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/>
        </p:nvSpPr>
        <p:spPr>
          <a:xfrm>
            <a:off x="1159250" y="1212250"/>
            <a:ext cx="5784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Alineados con el documento técnico ERS, se definieron 15 requerimientos funcionales críticos. Aquí se exponen los más relevantes para la operación de la biblioteca: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06081" y="2015347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RF.1: Selector de Perfil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44681" y="2967612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RF.3: CRUD de Inventario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44681" y="3832278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RF.4: Coordenadas Físicas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916619" y="2015347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RF.6/RF.7: Búsqueda Multicriterio / ISBN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916619" y="2853900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RF.9/RF.10: Control de Préstamos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4854844" y="3854653"/>
            <a:ext cx="36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RF.11: Alertas Automáticas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806081" y="2222516"/>
            <a:ext cx="367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Interfaz de bienvenida que deriva automáticamente a la pantalla de control correcta según privilegios de rol.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844681" y="3174781"/>
            <a:ext cx="367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Operaciones de persistencia atómica para registrar, modificar o dar de baja ejemplares físicos.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44681" y="4039447"/>
            <a:ext cx="367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Vinculación relacional de cada libro con un pasillo, estante y nivel dentro del almacén bibliográfico.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4916619" y="2222516"/>
            <a:ext cx="367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Filtros de catálogo ágiles por Título, Autor, Materia o mediante escaneo de código ISBN estructurado.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4916619" y="3071706"/>
            <a:ext cx="367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Registrar salidas de libros vinculadas a cuentas activas y actualizar stock automáticamente al registrar devoluciones.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978394" y="4039447"/>
            <a:ext cx="367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Generación autónoma y envío SMTP de avisos informativos previos o ante vencimientos pendientes.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117856" y="674563"/>
            <a:ext cx="8288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Especificación de Requisitos Funcionales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/>
        </p:nvSpPr>
        <p:spPr>
          <a:xfrm>
            <a:off x="748406" y="1937202"/>
            <a:ext cx="358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Usabilidad </a:t>
            </a:r>
            <a:r>
              <a:rPr lang="es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s" sz="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Desempeño</a:t>
            </a: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810306" y="1937202"/>
            <a:ext cx="358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Seguridad </a:t>
            </a:r>
            <a:r>
              <a:rPr lang="es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s" sz="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Disponibilidad</a:t>
            </a: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748388" y="2396439"/>
            <a:ext cx="316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RNF.1: Diseño Responsivo: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Interfaces adaptables utilizando Thymeleaf + Bootstrap para smartphones y PCs.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748388" y="3161011"/>
            <a:ext cx="316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RNF.2: Tiempo de Respuesta: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Búsquedas y reportes procesados e indexados en un tiempo límite inferior a 2 segundos.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810288" y="3161002"/>
            <a:ext cx="316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RNF.4: Cifrado HTTPS: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Transmisión segura y cifrado obligatorio de datos sensibles de usuarios y préstamos.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810288" y="3922199"/>
            <a:ext cx="316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RNF.5: Alta Disponibilidad: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Soporte operativo estable con nivel de servicio mínimo del 99% en periodos académicos.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1118881" y="621313"/>
            <a:ext cx="8288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Especificación de Requisitos No Funcionales</a:t>
            </a:r>
            <a:endParaRPr sz="1100"/>
          </a:p>
        </p:txBody>
      </p:sp>
      <p:sp>
        <p:nvSpPr>
          <p:cNvPr id="216" name="Google Shape;216;p19"/>
          <p:cNvSpPr txBox="1"/>
          <p:nvPr/>
        </p:nvSpPr>
        <p:spPr>
          <a:xfrm>
            <a:off x="4756250" y="2247500"/>
            <a:ext cx="3164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RNF.3: Persistencia y Consistencia Transaccional: </a:t>
            </a: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Las operaciones deben ser consistentes para evitar corrupción de datos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792956" y="1545491"/>
            <a:ext cx="358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Modelo de Dominio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92956" y="1904253"/>
            <a:ext cx="341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arquitectura lógica se rige por un sólido modelo de orientación a objetos (Java):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905431" y="1545491"/>
            <a:ext cx="358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Patrón en Capas Adoptado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905431" y="1788378"/>
            <a:ext cx="341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Implementado de forma desacoplada en el ecosistema Java / Spring Boot: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792938" y="2571744"/>
            <a:ext cx="316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Clase abstracta de dominio: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Usuario.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92951" y="2893025"/>
            <a:ext cx="3347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Subclases concretas con herencia real: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Administrador, Bibliotecario, Asistente, Alumno.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92938" y="3652968"/>
            <a:ext cx="316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Clases transaccionales y de persistencia: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Prestamo, Libro, UbicacionFisica, Notificacion.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905413" y="2375819"/>
            <a:ext cx="316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Capa de Presentación: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Front-end con Thymeleaf y HTML semántico responsivo.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936313" y="3178343"/>
            <a:ext cx="31647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Capa de Lógica de Negocio: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Clases de servicio (@Service) independientes.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936313" y="3726768"/>
            <a:ext cx="316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Capa de Persistencia: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Spring Data JPA encapsulando la base de datos MySQL.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1026206" y="513213"/>
            <a:ext cx="8288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Arquitectura Kruchten 4+1 &amp; Modelo de Dominio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02375" y="1268325"/>
            <a:ext cx="3975900" cy="3313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650025" y="1268225"/>
            <a:ext cx="3807300" cy="3359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/>
        </p:nvSpPr>
        <p:spPr>
          <a:xfrm>
            <a:off x="859831" y="1789930"/>
            <a:ext cx="223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Norma ISO/IEC 25010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828931" y="2110042"/>
            <a:ext cx="2129100" cy="16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Fiabilidad Transaccional: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Las transacciones críticas en la biblioteca son atómicas mediante persistencia estructurada. Ante fallos del servidor, los datos en MySQL se mantienen íntegros evitando datos inconsistentes.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543556" y="1789930"/>
            <a:ext cx="223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Accesibilidad WCAG 2.0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543556" y="2110042"/>
            <a:ext cx="2129100" cy="14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Estándar Nivel AA: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Contraste mínimo superior a 4.5:1 en todos los componentes. Controles legibles por teclado e inclusión de textos alternativos semánticos que facilitan el uso a estudiantes con discapacidad visual.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258181" y="1789930"/>
            <a:ext cx="223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Heurísticas de Nielsen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6258181" y="2110042"/>
            <a:ext cx="2129100" cy="14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Prevención de Errores (H5):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Validación exhaustiva de campos requeridos antes de procesar envíos. Diálogos informativos y códigos de colores unificados (éxito en verde, errores en rojo) que ayudan a orientar al usuario.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180675" y="590425"/>
            <a:ext cx="78018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Calidad de Software: ISO/IEC 25010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WCAG 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 Heurísticas de Nielsen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50525" y="1669800"/>
            <a:ext cx="2235300" cy="2286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409800" y="1669650"/>
            <a:ext cx="2324400" cy="2286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083025" y="1669800"/>
            <a:ext cx="2370900" cy="2286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671100" y="505475"/>
            <a:ext cx="78018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Prototipo Funcional: Sistema de Gestión de Biblioteca BooksMGMT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846694" y="2402488"/>
            <a:ext cx="5343815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u="sng" dirty="0">
                <a:solidFill>
                  <a:srgbClr val="9FC5E8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Prototipo Funcional BooksMGMT</a:t>
            </a:r>
            <a:endParaRPr sz="1000" b="1" dirty="0">
              <a:solidFill>
                <a:srgbClr val="9FC5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825794" y="2143250"/>
            <a:ext cx="26148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0" b="1" i="0" u="none" strike="noStrike" cap="none">
                <a:solidFill>
                  <a:srgbClr val="76E744"/>
                </a:solidFill>
                <a:latin typeface="Montserrat"/>
                <a:ea typeface="Montserrat"/>
                <a:cs typeface="Montserrat"/>
                <a:sym typeface="Montserrat"/>
              </a:rPr>
              <a:t>90%</a:t>
            </a:r>
            <a:endParaRPr sz="1800" b="1">
              <a:solidFill>
                <a:srgbClr val="76E7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25794" y="3156887"/>
            <a:ext cx="2614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TASA DE APROBACIÓN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825794" y="3489737"/>
            <a:ext cx="26148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 Casos Exitosos • 2 Casos de Defectos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1134200" y="1335575"/>
            <a:ext cx="6527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diseñó un protocolo de 20 casos de prueba críticos (SCRUM-T1 al SCRUM-T20) ejecutados de manera rigurosa sobre el prototipo de alta fidelidad, asegurando la calidad del sistema antes de proceder al código de producción.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006481" y="2794091"/>
            <a:ext cx="45507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🟢 </a:t>
            </a: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Módulo de Acceso &amp; Catálogo: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aprobado sin errores lógicos.</a:t>
            </a: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4006481" y="3311816"/>
            <a:ext cx="45507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🔴 </a:t>
            </a: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Módulo de Préstamos: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 defecto menor de persistencia visual de alerta.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006481" y="3829516"/>
            <a:ext cx="45507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🔴 </a:t>
            </a:r>
            <a:r>
              <a:rPr lang="es" sz="1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Módulo de Reportes: </a:t>
            </a:r>
            <a:r>
              <a:rPr lang="es" sz="1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 defecto funcional de actualización de columnas.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1134200" y="513175"/>
            <a:ext cx="76863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 de Pruebas 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Métricas de Ejecución: 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Ciclo Manual en Zephyr</a:t>
            </a:r>
            <a:endParaRPr sz="2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96650" y="2218150"/>
            <a:ext cx="2873100" cy="1992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707756" y="1855802"/>
            <a:ext cx="358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🔴</a:t>
            </a: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DEF-01: Mensajes de Obligatoriedad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792956" y="2263940"/>
            <a:ext cx="341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Comportamiento observado: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mensaje visual de campo obligatorio permanecía en pantalla incluso después de rellenar las fechas de préstamo.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723481" y="3205359"/>
            <a:ext cx="341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025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Acción de mejora: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Modificación lógica en JS para limpiar el indicador visual de error inmediatamente al detectar el evento de entrada válido (v1.4).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4839275" y="1855800"/>
            <a:ext cx="367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🔴 </a:t>
            </a:r>
            <a:r>
              <a:rPr lang="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DEF-02: Columna de Reportes</a:t>
            </a:r>
            <a:endParaRPr sz="1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4839275" y="2295275"/>
            <a:ext cx="367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Comportamiento observado: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 conmutar de la tarjeta "Libros más consultados" a "Usuarios frecuentes", la tabla no reconstruía de forma dinámica sus encabezados.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4779856" y="3150259"/>
            <a:ext cx="341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025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Acción de mejora: </a:t>
            </a:r>
            <a:r>
              <a:rPr lang="es" sz="1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Rediseñar el script de renderizado de Thymeleaf para forzar la actualización dinámica de las cabeceras de la tabla (v1.3).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1157477" y="459101"/>
            <a:ext cx="553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Defectos </a:t>
            </a: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s" sz="21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Acciones de Mejora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572000" y="1702800"/>
            <a:ext cx="3938100" cy="237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72300" y="1702650"/>
            <a:ext cx="3797100" cy="237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/>
        </p:nvSpPr>
        <p:spPr>
          <a:xfrm>
            <a:off x="1157477" y="459101"/>
            <a:ext cx="553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Anexo: Planilla de especificación de Requisitos Funcionales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p25" title="Captura de pantalla 2026-07-06 1400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688" y="1267776"/>
            <a:ext cx="5148636" cy="36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/>
        </p:nvSpPr>
        <p:spPr>
          <a:xfrm>
            <a:off x="1157477" y="459101"/>
            <a:ext cx="553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Anexo: Planilla de especificación de Requisitos No Funcionales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1" name="Google Shape;291;p26" title="Captura de pantalla 2026-07-06 1402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50" y="1267776"/>
            <a:ext cx="8214290" cy="36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1087525" y="393750"/>
            <a:ext cx="21750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100" b="1"/>
              <a:t>Anexo: Vista Escenarios: Casos de Uso</a:t>
            </a:r>
            <a:endParaRPr sz="2100" b="1"/>
          </a:p>
        </p:txBody>
      </p:sp>
      <p:sp>
        <p:nvSpPr>
          <p:cNvPr id="297" name="Google Shape;297;p27"/>
          <p:cNvSpPr txBox="1">
            <a:spLocks noGrp="1"/>
          </p:cNvSpPr>
          <p:nvPr>
            <p:ph type="body" idx="1"/>
          </p:nvPr>
        </p:nvSpPr>
        <p:spPr>
          <a:xfrm>
            <a:off x="907025" y="1615450"/>
            <a:ext cx="23829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Específico: Gestión de Usuarios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8" name="Google Shape;298;p27" title="diagramaCasoDeUsoGestionDeUsuari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250" y="152400"/>
            <a:ext cx="30445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0321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50" b="1"/>
              <a:t>Anexo: Vista Escenarios: Casos de Uso</a:t>
            </a:r>
            <a:endParaRPr sz="2050" b="1"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1"/>
          </p:nvPr>
        </p:nvSpPr>
        <p:spPr>
          <a:xfrm>
            <a:off x="961725" y="1533375"/>
            <a:ext cx="25539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Específico: Catalogo en Linea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p28" title="diagramaCasoDeUsoCata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000" y="152400"/>
            <a:ext cx="37234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Vista Escenarios: Casos de Uso</a:t>
            </a:r>
            <a:endParaRPr sz="3400" b="1"/>
          </a:p>
        </p:txBody>
      </p:sp>
      <p:sp>
        <p:nvSpPr>
          <p:cNvPr id="311" name="Google Shape;311;p29"/>
          <p:cNvSpPr txBox="1">
            <a:spLocks noGrp="1"/>
          </p:cNvSpPr>
          <p:nvPr>
            <p:ph type="body" idx="1"/>
          </p:nvPr>
        </p:nvSpPr>
        <p:spPr>
          <a:xfrm>
            <a:off x="1023300" y="910950"/>
            <a:ext cx="75873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Específico: Generación de Reportes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2" name="Google Shape;312;p29" title="diagramaCasoDeUsoGeneracionDeRepor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16" y="1519900"/>
            <a:ext cx="8808359" cy="33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>
            <a:spLocks noGrp="1"/>
          </p:cNvSpPr>
          <p:nvPr>
            <p:ph type="title"/>
          </p:nvPr>
        </p:nvSpPr>
        <p:spPr>
          <a:xfrm>
            <a:off x="1010250" y="161200"/>
            <a:ext cx="53850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250" b="1"/>
              <a:t>Anexo: </a:t>
            </a:r>
            <a:r>
              <a:rPr lang="es" sz="2300" b="1"/>
              <a:t>Vista Escenarios: Casos de Uso</a:t>
            </a:r>
            <a:endParaRPr sz="3400" b="1"/>
          </a:p>
        </p:txBody>
      </p:sp>
      <p:sp>
        <p:nvSpPr>
          <p:cNvPr id="318" name="Google Shape;318;p30"/>
          <p:cNvSpPr txBox="1">
            <a:spLocks noGrp="1"/>
          </p:cNvSpPr>
          <p:nvPr>
            <p:ph type="body" idx="1"/>
          </p:nvPr>
        </p:nvSpPr>
        <p:spPr>
          <a:xfrm>
            <a:off x="568725" y="618150"/>
            <a:ext cx="60012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Específico: Préstamos y Devoluciones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p30" title="diagramaCasoDeUsoPrestamosYDevolucio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75" y="998625"/>
            <a:ext cx="6069850" cy="388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Vista Escenarios: Casos de Uso</a:t>
            </a:r>
            <a:endParaRPr sz="3400" b="1"/>
          </a:p>
        </p:txBody>
      </p:sp>
      <p:sp>
        <p:nvSpPr>
          <p:cNvPr id="325" name="Google Shape;325;p31"/>
          <p:cNvSpPr txBox="1">
            <a:spLocks noGrp="1"/>
          </p:cNvSpPr>
          <p:nvPr>
            <p:ph type="body" idx="1"/>
          </p:nvPr>
        </p:nvSpPr>
        <p:spPr>
          <a:xfrm>
            <a:off x="1023300" y="910950"/>
            <a:ext cx="75873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Específico: Gestión de Libros y Materiales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31" title="diagramaCasoDeUsoGestionDeLibrosEInvent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5" y="953913"/>
            <a:ext cx="8086725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"/>
          <p:cNvSpPr txBox="1">
            <a:spLocks noGrp="1"/>
          </p:cNvSpPr>
          <p:nvPr>
            <p:ph type="title"/>
          </p:nvPr>
        </p:nvSpPr>
        <p:spPr>
          <a:xfrm>
            <a:off x="1036975" y="325350"/>
            <a:ext cx="30867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50" b="1"/>
              <a:t>Anexo: Vista Escenarios: Casos de Uso</a:t>
            </a:r>
            <a:endParaRPr sz="2050" b="1"/>
          </a:p>
        </p:txBody>
      </p:sp>
      <p:sp>
        <p:nvSpPr>
          <p:cNvPr id="332" name="Google Shape;332;p32"/>
          <p:cNvSpPr txBox="1">
            <a:spLocks noGrp="1"/>
          </p:cNvSpPr>
          <p:nvPr>
            <p:ph type="body" idx="1"/>
          </p:nvPr>
        </p:nvSpPr>
        <p:spPr>
          <a:xfrm>
            <a:off x="559475" y="1321350"/>
            <a:ext cx="31203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Casos de Uso General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3" name="Google Shape;333;p32" title="DiagramaDeCasosDeUsoGene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075" y="152400"/>
            <a:ext cx="17566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133350" y="1543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200" b="1"/>
              <a:t>Anexo: </a:t>
            </a:r>
            <a:r>
              <a:rPr lang="es" sz="2300" b="1"/>
              <a:t>Vista Lógica</a:t>
            </a:r>
            <a:endParaRPr sz="3400" b="1"/>
          </a:p>
        </p:txBody>
      </p:sp>
      <p:sp>
        <p:nvSpPr>
          <p:cNvPr id="339" name="Google Shape;339;p33"/>
          <p:cNvSpPr txBox="1">
            <a:spLocks noGrp="1"/>
          </p:cNvSpPr>
          <p:nvPr>
            <p:ph type="body" idx="1"/>
          </p:nvPr>
        </p:nvSpPr>
        <p:spPr>
          <a:xfrm>
            <a:off x="975425" y="599150"/>
            <a:ext cx="75873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clases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0" name="Google Shape;340;p33" title="VistaLogicaCorregi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210" y="979525"/>
            <a:ext cx="3885728" cy="407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018350" y="2227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Vista de Procesos</a:t>
            </a:r>
            <a:endParaRPr sz="3400" b="1"/>
          </a:p>
        </p:txBody>
      </p:sp>
      <p:sp>
        <p:nvSpPr>
          <p:cNvPr id="346" name="Google Shape;346;p34"/>
          <p:cNvSpPr txBox="1">
            <a:spLocks noGrp="1"/>
          </p:cNvSpPr>
          <p:nvPr>
            <p:ph type="body" idx="1"/>
          </p:nvPr>
        </p:nvSpPr>
        <p:spPr>
          <a:xfrm>
            <a:off x="941225" y="647000"/>
            <a:ext cx="49752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actividades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7" name="Google Shape;347;p34" title="diagramaDeActivida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463" y="1020375"/>
            <a:ext cx="5621075" cy="389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242775" y="2706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Vista de Implementación/Desarrollo</a:t>
            </a:r>
            <a:endParaRPr sz="3400" b="1"/>
          </a:p>
        </p:txBody>
      </p:sp>
      <p:pic>
        <p:nvPicPr>
          <p:cNvPr id="353" name="Google Shape;353;p35" title="VistaDeImplement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475" y="786575"/>
            <a:ext cx="5027050" cy="414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1188075" y="1885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Vista de Despliegue/Física</a:t>
            </a:r>
            <a:endParaRPr sz="3400" b="1"/>
          </a:p>
        </p:txBody>
      </p:sp>
      <p:sp>
        <p:nvSpPr>
          <p:cNvPr id="359" name="Google Shape;359;p36"/>
          <p:cNvSpPr txBox="1">
            <a:spLocks noGrp="1"/>
          </p:cNvSpPr>
          <p:nvPr>
            <p:ph type="body" idx="1"/>
          </p:nvPr>
        </p:nvSpPr>
        <p:spPr>
          <a:xfrm>
            <a:off x="1023300" y="722250"/>
            <a:ext cx="7587300" cy="36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Diagrama de despliegue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0" name="Google Shape;360;p36" title="diagramaDeDesplieg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425" y="1157375"/>
            <a:ext cx="6395151" cy="380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>
            <a:spLocks noGrp="1"/>
          </p:cNvSpPr>
          <p:nvPr>
            <p:ph type="title"/>
          </p:nvPr>
        </p:nvSpPr>
        <p:spPr>
          <a:xfrm>
            <a:off x="1153875" y="1133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Modelo de Kruchten 4+1</a:t>
            </a:r>
            <a:endParaRPr sz="3400" b="1"/>
          </a:p>
        </p:txBody>
      </p:sp>
      <p:pic>
        <p:nvPicPr>
          <p:cNvPr id="366" name="Google Shape;366;p37" title="Modelo de Krucht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850" y="720250"/>
            <a:ext cx="5936299" cy="426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>
            <a:spLocks noGrp="1"/>
          </p:cNvSpPr>
          <p:nvPr>
            <p:ph type="title"/>
          </p:nvPr>
        </p:nvSpPr>
        <p:spPr>
          <a:xfrm>
            <a:off x="1153875" y="1133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Plan de pruebas</a:t>
            </a:r>
            <a:endParaRPr sz="3400" b="1"/>
          </a:p>
        </p:txBody>
      </p:sp>
      <p:pic>
        <p:nvPicPr>
          <p:cNvPr id="372" name="Google Shape;372;p38" title="Captura de pantalla 2026-07-06 1954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25" y="1884325"/>
            <a:ext cx="8839199" cy="240928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8"/>
          <p:cNvSpPr txBox="1"/>
          <p:nvPr/>
        </p:nvSpPr>
        <p:spPr>
          <a:xfrm>
            <a:off x="1819375" y="1039650"/>
            <a:ext cx="530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es" sz="1300" i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adjunta como ejemplo caso de prueba 1 (SCRUM-T-1)</a:t>
            </a:r>
            <a:endParaRPr sz="1300" i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>
            <a:spLocks noGrp="1"/>
          </p:cNvSpPr>
          <p:nvPr>
            <p:ph type="title"/>
          </p:nvPr>
        </p:nvSpPr>
        <p:spPr>
          <a:xfrm>
            <a:off x="1133350" y="2843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 b="1"/>
              <a:t>Anexo: Control de Versiones </a:t>
            </a:r>
            <a:endParaRPr sz="3400" b="1"/>
          </a:p>
        </p:txBody>
      </p:sp>
      <p:pic>
        <p:nvPicPr>
          <p:cNvPr id="379" name="Google Shape;379;p39" title="Captura de pantalla 2026-07-06 1957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487" y="873525"/>
            <a:ext cx="5629025" cy="39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>
            <a:spLocks noGrp="1"/>
          </p:cNvSpPr>
          <p:nvPr>
            <p:ph type="title"/>
          </p:nvPr>
        </p:nvSpPr>
        <p:spPr>
          <a:xfrm>
            <a:off x="1052550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 b="1"/>
              <a:t>Conclusión</a:t>
            </a:r>
            <a:endParaRPr sz="47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Microsoft Office PowerPoint</Application>
  <PresentationFormat>Presentación en pantalla (16:9)</PresentationFormat>
  <Paragraphs>138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Calibri</vt:lpstr>
      <vt:lpstr>Montserrat Black</vt:lpstr>
      <vt:lpstr>Montserrat</vt:lpstr>
      <vt:lpstr>Lato</vt:lpstr>
      <vt:lpstr>Arial</vt:lpstr>
      <vt:lpstr>Focus</vt:lpstr>
      <vt:lpstr>Ingeniería de Software Sistema de Gestión de Biblioteca Universitaria: BooksMGTM</vt:lpstr>
      <vt:lpstr>Presentación de PowerPoint</vt:lpstr>
      <vt:lpstr>Ámbito del Sistema</vt:lpstr>
      <vt:lpstr>Metodología, Ciclo de Vida y Estándares</vt:lpstr>
      <vt:lpstr>Planificación del Proyecto y Carta Gantt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Anexo: Vista Escenarios: Casos de Uso</vt:lpstr>
      <vt:lpstr>Anexo: Vista Escenarios: Casos de Uso</vt:lpstr>
      <vt:lpstr>Anexo: Vista Escenarios: Casos de Uso</vt:lpstr>
      <vt:lpstr>Anexo: Vista Escenarios: Casos de Uso</vt:lpstr>
      <vt:lpstr>Anexo: Vista Escenarios: Casos de Uso</vt:lpstr>
      <vt:lpstr>Anexo: Vista Escenarios: Casos de Uso</vt:lpstr>
      <vt:lpstr>Anexo: Vista Lógica</vt:lpstr>
      <vt:lpstr>Anexo: Vista de Procesos</vt:lpstr>
      <vt:lpstr>Anexo: Vista de Implementación/Desarrollo</vt:lpstr>
      <vt:lpstr>Anexo: Vista de Despliegue/Física</vt:lpstr>
      <vt:lpstr>Anexo: Modelo de Kruchten 4+1</vt:lpstr>
      <vt:lpstr>Anexo: Plan de pruebas</vt:lpstr>
      <vt:lpstr>Anexo: Control de Versiones 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SB- Alumno</cp:lastModifiedBy>
  <cp:revision>2</cp:revision>
  <dcterms:modified xsi:type="dcterms:W3CDTF">2026-07-07T18:44:45Z</dcterms:modified>
</cp:coreProperties>
</file>